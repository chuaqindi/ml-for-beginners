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Slides/_rels/notesSlide1.xml.rels>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Relationships xmlns="http://schemas.openxmlformats.org/package/2006/relationships"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457200" y="914400"/>
            <a:ext cx="5943600" cy="7315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1400" b="0">
                <a:solidFill>
                  <a:srgbClr val="273D49"/>
                </a:solidFill>
                <a:latin typeface="Arial"/>
              </a:rPr>
              <a:t>A hypothetical hackathon proposal. No product deployment, customer interview, or operational savings are claimed.</a:t>
            </a:r>
            <a:endParaRPr lang="en-US"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457200" y="914400"/>
            <a:ext cx="5943600" cy="7315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1400" b="0">
                <a:solidFill>
                  <a:srgbClr val="273D49"/>
                </a:solidFill>
                <a:latin typeface="Arial"/>
              </a:rPr>
              <a:t>Sector: energy management, as discussed in 9-Real-World/1-Applications/README.md. This slide proposes a use case, not a measured benefit.</a:t>
            </a:r>
            <a:endParaRPr lang="en-US"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457200" y="914400"/>
            <a:ext cx="5943600" cy="7315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1400" b="0">
                <a:solidFill>
                  <a:srgbClr val="273D49"/>
                </a:solidFill>
                <a:latin typeface="Arial"/>
              </a:rPr>
              <a:t>Repository source: 7-TimeSeries/data/energy.csv. Executed prototype: homework-solutions/7-TimeSeries/3-SVR/notebook.ipynb. All period counts are verified in that notebook. The final model refits on September–November before the December evaluation.</a:t>
            </a:r>
            <a:endParaRPr lang="en-US"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457200" y="914400"/>
            <a:ext cx="5943600" cy="7315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1400" b="0">
                <a:solidFill>
                  <a:srgbClr val="273D49"/>
                </a:solidFill>
                <a:latin typeface="Arial"/>
              </a:rPr>
              <a:t>Source: homework-solutions/7-TimeSeries/3-SVR/energy-metrics.csv. The notebook compares 15 kernel and lookback configurations using validation only. The displayed test results were not used to select parameters.</a:t>
            </a:r>
            <a:endParaRPr lang="en-US"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457200" y="914400"/>
            <a:ext cx="5943600" cy="7315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1400" b="0">
                <a:solidFill>
                  <a:srgbClr val="273D49"/>
                </a:solidFill>
                <a:latin typeface="Arial"/>
              </a:rPr>
              <a:t>This is a proposed local workflow. The fitted pipeline is included in the portfolio as energy-svr.joblib. It contains the target and feature transformations learned without final-test data.</a:t>
            </a:r>
            <a:endParaRPr lang="en-US"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457200" y="914400"/>
            <a:ext cx="5943600" cy="7315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1400" b="0">
                <a:solidFill>
                  <a:srgbClr val="273D49"/>
                </a:solidFill>
                <a:latin typeface="Arial"/>
              </a:rPr>
              <a:t>No savings, carbon reduction, reliability guarantee, causal effect, or real operator trial was measured. The model-debugging notebook reports observed cohort disparities without claiming demographic fairness.</a:t>
            </a:r>
            <a:endParaRPr lang="en-US"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457200" y="914400"/>
            <a:ext cx="5943600" cy="7315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1400" b="0">
                <a:solidFill>
                  <a:srgbClr val="273D49"/>
                </a:solidFill>
                <a:latin typeface="Arial"/>
              </a:rPr>
              <a:t>Dataset citation from the curriculum: Tao Hong et al., Probabilistic energy forecasting: Global Energy Forecasting Competition 2014 and beyond, International Journal of Forecasting 32(3), 896–913, 2016. Local artifacts are linked from homework-solutions/README.md.</a:t>
            </a:r>
            <a:endParaRPr lang="en-US" sz="1400"/>
          </a:p>
        </p:txBody>
      </p:sp>
    </p:spTree>
  </p:cSld>
  <p:clrMapOvr>
    <a:masterClrMapping/>
  </p:clrMapOvr>
</p:note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5600" b="1">
                <a:solidFill>
                  <a:srgbClr val="17354A"/>
                </a:solidFill>
                <a:latin typeface="Arial"/>
              </a:rPr>
              <a:t>LoadWatch</a:t>
            </a:r>
            <a:endParaRPr lang="en-US" sz="5600"/>
          </a:p>
        </p:txBody>
      </p:sp>
      <p:sp>
        <p:nvSpPr>
          <p:cNvPr id="3" name="Body"/>
          <p:cNvSpPr txBox="1"/>
          <p:nvPr/>
        </p:nvSpPr>
        <p:spPr>
          <a:xfrm>
            <a:off x="685800" y="1737360"/>
            <a:ext cx="10698480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3000" b="0">
                <a:solidFill>
                  <a:srgbClr val="273D49"/>
                </a:solidFill>
                <a:latin typeface="Arial"/>
              </a:rPr>
              <a:t>Hourly electricity forecasts</a:t>
            </a:r>
            <a:endParaRPr lang="en-US" sz="3000"/>
          </a:p>
          <a:p>
            <a:pPr>
              <a:spcAft>
                <a:spcPts val="1400"/>
              </a:spcAft>
            </a:pPr>
            <a:r>
              <a:rPr lang="en-US" sz="3000" b="0">
                <a:solidFill>
                  <a:srgbClr val="273D49"/>
                </a:solidFill>
                <a:latin typeface="Arial"/>
              </a:rPr>
              <a:t>for operations teams</a:t>
            </a:r>
            <a:endParaRPr lang="en-US" sz="3000"/>
          </a:p>
          <a:p>
            <a:pPr>
              <a:spcAft>
                <a:spcPts val="1400"/>
              </a:spcAft>
            </a:pPr>
            <a:r>
              <a:rPr lang="en-US" sz="3000" b="0">
                <a:solidFill>
                  <a:srgbClr val="273D49"/>
                </a:solidFill>
                <a:latin typeface="Arial"/>
              </a:rPr>
              <a:t>ML scavenger hunt: an energy-management proposal</a:t>
            </a:r>
            <a:endParaRPr lang="en-US"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3600" b="1">
                <a:solidFill>
                  <a:srgbClr val="17354A"/>
                </a:solidFill>
                <a:latin typeface="Arial"/>
              </a:rPr>
              <a:t>The operating decision</a:t>
            </a:r>
            <a:endParaRPr lang="en-US" sz="3600"/>
          </a:p>
        </p:txBody>
      </p:sp>
      <p:sp>
        <p:nvSpPr>
          <p:cNvPr id="3" name="Body"/>
          <p:cNvSpPr txBox="1"/>
          <p:nvPr/>
        </p:nvSpPr>
        <p:spPr>
          <a:xfrm>
            <a:off x="685800" y="1737360"/>
            <a:ext cx="10698480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An operations team needs an estimate of demand in the next hour.</a:t>
            </a:r>
            <a:endParaRPr lang="en-US" sz="2400"/>
          </a:p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A forecast can help the team review when flexible equipment should run.</a:t>
            </a:r>
            <a:endParaRPr lang="en-US" sz="2400"/>
          </a:p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The proposed tool displays an expected load and flags uncertain periods. The operator keeps control.</a:t>
            </a:r>
            <a:endParaRPr lang="en-US" sz="2400"/>
          </a:p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Pilot users and the cost of false alerts remain assumptions to validate.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3600" b="1">
                <a:solidFill>
                  <a:srgbClr val="17354A"/>
                </a:solidFill>
                <a:latin typeface="Arial"/>
              </a:rPr>
              <a:t>Data and forecast origin</a:t>
            </a:r>
            <a:endParaRPr lang="en-US" sz="3600"/>
          </a:p>
        </p:txBody>
      </p:sp>
      <p:graphicFrame>
        <p:nvGraphicFramePr>
          <p:cNvPr id="3" name="Editable evidence table"/>
          <p:cNvGraphicFramePr/>
          <p:nvPr/>
        </p:nvGraphicFramePr>
        <p:xfrm>
          <a:off x="685800" y="1691640"/>
          <a:ext cx="10698480" cy="2651760"/>
        </p:xfrm>
        <a:graphic>
          <a:graphicData uri="http://schemas.openxmlformats.org/drawingml/2006/table">
            <a:tbl>
              <a:tblPr firstRow="1"/>
              <a:tblGrid>
                <a:gridCol w="5563209"/>
                <a:gridCol w="2567635"/>
                <a:gridCol w="2567635"/>
              </a:tblGrid>
              <a:tr h="662940"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"/>
                        </a:rPr>
                        <a:t>Period</a:t>
                      </a:r>
                      <a:endParaRPr lang="en-US" sz="2200"/>
                    </a:p>
                  </a:txBody>
                  <a:tcPr>
                    <a:solidFill>
                      <a:srgbClr val="17354A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  <a:endParaRPr lang="en-US" sz="2200"/>
                    </a:p>
                  </a:txBody>
                  <a:tcPr>
                    <a:solidFill>
                      <a:srgbClr val="17354A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"/>
                        </a:rPr>
                        <a:t>Hourly targets</a:t>
                      </a:r>
                      <a:endParaRPr lang="en-US" sz="2200"/>
                    </a:p>
                  </a:txBody>
                  <a:tcPr>
                    <a:solidFill>
                      <a:srgbClr val="17354A"/>
                    </a:solidFill>
                  </a:tcPr>
                </a:tc>
              </a:tr>
              <a:tr h="662940"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Sep–Oct 2014</a:t>
                      </a:r>
                      <a:endParaRPr lang="en-US" sz="2200"/>
                    </a:p>
                  </a:txBody>
                  <a:tcPr>
                    <a:solidFill>
                      <a:srgbClr val="EDF3F1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Training</a:t>
                      </a:r>
                      <a:endParaRPr lang="en-US" sz="2200"/>
                    </a:p>
                  </a:txBody>
                  <a:tcPr>
                    <a:solidFill>
                      <a:srgbClr val="EDF3F1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1,464</a:t>
                      </a:r>
                      <a:endParaRPr lang="en-US" sz="2200"/>
                    </a:p>
                  </a:txBody>
                  <a:tcPr>
                    <a:solidFill>
                      <a:srgbClr val="EDF3F1"/>
                    </a:solidFill>
                  </a:tcPr>
                </a:tc>
              </a:tr>
              <a:tr h="662940"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November 2014</a:t>
                      </a:r>
                      <a:endParaRPr lang="en-US" sz="22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Validation</a:t>
                      </a:r>
                      <a:endParaRPr lang="en-US" sz="22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720</a:t>
                      </a:r>
                      <a:endParaRPr lang="en-US" sz="22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December 2014</a:t>
                      </a:r>
                      <a:endParaRPr lang="en-US" sz="2200"/>
                    </a:p>
                  </a:txBody>
                  <a:tcPr>
                    <a:solidFill>
                      <a:srgbClr val="EDF3F1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Final test</a:t>
                      </a:r>
                      <a:endParaRPr lang="en-US" sz="2200"/>
                    </a:p>
                  </a:txBody>
                  <a:tcPr>
                    <a:solidFill>
                      <a:srgbClr val="EDF3F1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744</a:t>
                      </a:r>
                      <a:endParaRPr lang="en-US" sz="2200"/>
                    </a:p>
                  </a:txBody>
                  <a:tcPr>
                    <a:solidFill>
                      <a:srgbClr val="EDF3F1"/>
                    </a:solidFill>
                  </a:tcPr>
                </a:tc>
              </a:tr>
            </a:tbl>
          </a:graphicData>
        </a:graphic>
      </p:graphicFrame>
      <p:sp>
        <p:nvSpPr>
          <p:cNvPr id="4" name="Context"/>
          <p:cNvSpPr txBox="1"/>
          <p:nvPr/>
        </p:nvSpPr>
        <p:spPr>
          <a:xfrm>
            <a:off x="685800" y="4617720"/>
            <a:ext cx="1069848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2100" b="0">
                <a:solidFill>
                  <a:srgbClr val="45636E"/>
                </a:solidFill>
                <a:latin typeface="Arial"/>
              </a:rPr>
              <a:t>GEFCom2014 load data. Each prediction uses the previous 24 observed loads. The model never receives a future load or temperature.</a:t>
            </a:r>
            <a:endParaRPr lang="en-US"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3600" b="1">
                <a:solidFill>
                  <a:srgbClr val="17354A"/>
                </a:solidFill>
                <a:latin typeface="Arial"/>
              </a:rPr>
              <a:t>Prototype results</a:t>
            </a:r>
            <a:endParaRPr lang="en-US" sz="3600"/>
          </a:p>
        </p:txBody>
      </p:sp>
      <p:graphicFrame>
        <p:nvGraphicFramePr>
          <p:cNvPr id="3" name="Editable evidence table"/>
          <p:cNvGraphicFramePr/>
          <p:nvPr/>
        </p:nvGraphicFramePr>
        <p:xfrm>
          <a:off x="685800" y="1691640"/>
          <a:ext cx="10698480" cy="2651760"/>
        </p:xfrm>
        <a:graphic>
          <a:graphicData uri="http://schemas.openxmlformats.org/drawingml/2006/table">
            <a:tbl>
              <a:tblPr firstRow="1"/>
              <a:tblGrid>
                <a:gridCol w="5563209"/>
                <a:gridCol w="2567635"/>
                <a:gridCol w="2567635"/>
              </a:tblGrid>
              <a:tr h="662940"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  <a:endParaRPr lang="en-US" sz="2200"/>
                    </a:p>
                  </a:txBody>
                  <a:tcPr>
                    <a:solidFill>
                      <a:srgbClr val="17354A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"/>
                        </a:rPr>
                        <a:t>MAPE (%)</a:t>
                      </a:r>
                      <a:endParaRPr lang="en-US" sz="2200"/>
                    </a:p>
                  </a:txBody>
                  <a:tcPr>
                    <a:solidFill>
                      <a:srgbClr val="17354A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Arial"/>
                        </a:rPr>
                        <a:t>MAE (load units)</a:t>
                      </a:r>
                      <a:endParaRPr lang="en-US" sz="2200"/>
                    </a:p>
                  </a:txBody>
                  <a:tcPr>
                    <a:solidFill>
                      <a:srgbClr val="17354A"/>
                    </a:solidFill>
                  </a:tcPr>
                </a:tc>
              </a:tr>
              <a:tr h="662940"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Linear SVR</a:t>
                      </a:r>
                      <a:endParaRPr lang="en-US" sz="2200"/>
                    </a:p>
                  </a:txBody>
                  <a:tcPr>
                    <a:solidFill>
                      <a:srgbClr val="EDF3F1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1.073</a:t>
                      </a:r>
                      <a:endParaRPr lang="en-US" sz="2200"/>
                    </a:p>
                  </a:txBody>
                  <a:tcPr>
                    <a:solidFill>
                      <a:srgbClr val="EDF3F1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36.69</a:t>
                      </a:r>
                      <a:endParaRPr lang="en-US" sz="2200"/>
                    </a:p>
                  </a:txBody>
                  <a:tcPr>
                    <a:solidFill>
                      <a:srgbClr val="EDF3F1"/>
                    </a:solidFill>
                  </a:tcPr>
                </a:tc>
              </a:tr>
              <a:tr h="662940"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Last observed hour</a:t>
                      </a:r>
                      <a:endParaRPr lang="en-US" sz="22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3.903</a:t>
                      </a:r>
                      <a:endParaRPr lang="en-US" sz="22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131.28</a:t>
                      </a:r>
                      <a:endParaRPr lang="en-US" sz="22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Same hour, previous day</a:t>
                      </a:r>
                      <a:endParaRPr lang="en-US" sz="2200"/>
                    </a:p>
                  </a:txBody>
                  <a:tcPr>
                    <a:solidFill>
                      <a:srgbClr val="EDF3F1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4.792</a:t>
                      </a:r>
                      <a:endParaRPr lang="en-US" sz="2200"/>
                    </a:p>
                  </a:txBody>
                  <a:tcPr>
                    <a:solidFill>
                      <a:srgbClr val="EDF3F1"/>
                    </a:solidFill>
                  </a:tcPr>
                </a:tc>
                <a:tc>
                  <a:txBody>
                    <a:bodyPr lIns="120000" rIns="90000" tIns="70000" bIns="70000"/>
                    <a:lstStyle/>
                    <a:p>
                      <a:pPr>
                        <a:spcAft>
                          <a:spcPts val="1400"/>
                        </a:spcAft>
                      </a:pPr>
                      <a:r>
                        <a:rPr lang="en-US" sz="2200" b="0">
                          <a:solidFill>
                            <a:srgbClr val="273D49"/>
                          </a:solidFill>
                          <a:latin typeface="Arial"/>
                        </a:rPr>
                        <a:t>162.21</a:t>
                      </a:r>
                      <a:endParaRPr lang="en-US" sz="2200"/>
                    </a:p>
                  </a:txBody>
                  <a:tcPr>
                    <a:solidFill>
                      <a:srgbClr val="EDF3F1"/>
                    </a:solidFill>
                  </a:tcPr>
                </a:tc>
              </a:tr>
            </a:tbl>
          </a:graphicData>
        </a:graphic>
      </p:graphicFrame>
      <p:sp>
        <p:nvSpPr>
          <p:cNvPr id="4" name="Context"/>
          <p:cNvSpPr txBox="1"/>
          <p:nvPr/>
        </p:nvSpPr>
        <p:spPr>
          <a:xfrm>
            <a:off x="685800" y="4617720"/>
            <a:ext cx="1069848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2100" b="0">
                <a:solidFill>
                  <a:srgbClr val="45636E"/>
                </a:solidFill>
                <a:latin typeface="Arial"/>
              </a:rPr>
              <a:t>Measured on 744 unseen December hours. Linear SVR won the November validation comparison. These are rolling one-hour forecasts.</a:t>
            </a:r>
            <a:endParaRPr lang="en-US"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3600" b="1">
                <a:solidFill>
                  <a:srgbClr val="17354A"/>
                </a:solidFill>
                <a:latin typeface="Arial"/>
              </a:rPr>
              <a:t>Implementation and evaluation</a:t>
            </a:r>
            <a:endParaRPr lang="en-US" sz="3600"/>
          </a:p>
        </p:txBody>
      </p:sp>
      <p:sp>
        <p:nvSpPr>
          <p:cNvPr id="3" name="Body"/>
          <p:cNvSpPr txBox="1"/>
          <p:nvPr/>
        </p:nvSpPr>
        <p:spPr>
          <a:xfrm>
            <a:off x="685800" y="1737360"/>
            <a:ext cx="10698480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At the end of each hour, validate the newest reading and construct the 24 lag features.</a:t>
            </a:r>
            <a:endParaRPr lang="en-US" sz="2400"/>
          </a:p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Apply the fitted input scaler, linear SVR, and inverse target transformation.</a:t>
            </a:r>
            <a:endParaRPr lang="en-US" sz="2400"/>
          </a:p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Show the forecast beside persistence and previous-day baselines.</a:t>
            </a:r>
            <a:endParaRPr lang="en-US" sz="2400"/>
          </a:p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Log forecast error by hour and day type. Any model revision gets a later, untouched test period.</a:t>
            </a:r>
            <a:endParaRPr 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3600" b="1">
                <a:solidFill>
                  <a:srgbClr val="17354A"/>
                </a:solidFill>
                <a:latin typeface="Arial"/>
              </a:rPr>
              <a:t>Limits and pilot criteria</a:t>
            </a:r>
            <a:endParaRPr lang="en-US" sz="3600"/>
          </a:p>
        </p:txBody>
      </p:sp>
      <p:sp>
        <p:nvSpPr>
          <p:cNvPr id="3" name="Body"/>
          <p:cNvSpPr txBox="1"/>
          <p:nvPr/>
        </p:nvSpPr>
        <p:spPr>
          <a:xfrm>
            <a:off x="685800" y="1737360"/>
            <a:ext cx="10698480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Coverage: one historical load series and one month of final test data.</a:t>
            </a:r>
            <a:endParaRPr lang="en-US" sz="2400"/>
          </a:p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Decision confidence: backtest intervals and peak-load errors before using forecasts to plan equipment changes.</a:t>
            </a:r>
            <a:endParaRPr lang="en-US" sz="2400"/>
          </a:p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Pilot criteria: outperform both baselines in later seasons and measure operator alert burden.</a:t>
            </a:r>
            <a:endParaRPr lang="en-US" sz="2400"/>
          </a:p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Human oversight: operators review alerts and retain a fallback when readings are missing or the data distribution changes.</a:t>
            </a:r>
            <a:endParaRPr 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3600" b="1">
                <a:solidFill>
                  <a:srgbClr val="17354A"/>
                </a:solidFill>
                <a:latin typeface="Arial"/>
              </a:rPr>
              <a:t>Sources and reproducibility</a:t>
            </a:r>
            <a:endParaRPr lang="en-US" sz="3600"/>
          </a:p>
        </p:txBody>
      </p:sp>
      <p:sp>
        <p:nvSpPr>
          <p:cNvPr id="3" name="Body"/>
          <p:cNvSpPr txBox="1"/>
          <p:nvPr/>
        </p:nvSpPr>
        <p:spPr>
          <a:xfrm>
            <a:off x="685800" y="1737360"/>
            <a:ext cx="10698480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Data: the repository’s GEFCom2014 energy.csv and the curriculum’s original dataset citation.</a:t>
            </a:r>
            <a:endParaRPr lang="en-US" sz="2400"/>
          </a:p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Model and experiments: Time Series, lesson 3, executed notebook and saved validation/test tables.</a:t>
            </a:r>
            <a:endParaRPr lang="en-US" sz="2400"/>
          </a:p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Model audit: Real-World ML, lesson 2, executed local error analysis and explanations.</a:t>
            </a:r>
            <a:endParaRPr lang="en-US" sz="2400"/>
          </a:p>
          <a:p>
            <a:pPr>
              <a:spcAft>
                <a:spcPts val="1400"/>
              </a:spcAft>
            </a:pPr>
            <a:r>
              <a:rPr lang="en-US" sz="2400" b="0">
                <a:solidFill>
                  <a:srgbClr val="273D49"/>
                </a:solidFill>
                <a:latin typeface="Arial"/>
              </a:rPr>
              <a:t>The portfolio README links all artifacts and records exclusions. This proposal is a local learning prototype.</a:t>
            </a:r>
            <a:endParaRPr 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